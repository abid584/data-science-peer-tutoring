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0"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86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93A3FBB5-E4CF-4E30-B910-171F0A3B0300}" type="datetimeFigureOut">
              <a:rPr lang="en-US" smtClean="0"/>
              <a:t>6/14/2025</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2C9A7997-975D-433C-BD31-886FB7698137}" type="slidenum">
              <a:rPr lang="en-US" smtClean="0"/>
              <a:t>‹#›</a:t>
            </a:fld>
            <a:endParaRPr lang="en-US"/>
          </a:p>
        </p:txBody>
      </p:sp>
    </p:spTree>
    <p:extLst>
      <p:ext uri="{BB962C8B-B14F-4D97-AF65-F5344CB8AC3E}">
        <p14:creationId xmlns:p14="http://schemas.microsoft.com/office/powerpoint/2010/main" val="2970262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A3FBB5-E4CF-4E30-B910-171F0A3B0300}" type="datetimeFigureOut">
              <a:rPr lang="en-US" smtClean="0"/>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9A7997-975D-433C-BD31-886FB7698137}" type="slidenum">
              <a:rPr lang="en-US" smtClean="0"/>
              <a:t>‹#›</a:t>
            </a:fld>
            <a:endParaRPr lang="en-US"/>
          </a:p>
        </p:txBody>
      </p:sp>
    </p:spTree>
    <p:extLst>
      <p:ext uri="{BB962C8B-B14F-4D97-AF65-F5344CB8AC3E}">
        <p14:creationId xmlns:p14="http://schemas.microsoft.com/office/powerpoint/2010/main" val="2567503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A3FBB5-E4CF-4E30-B910-171F0A3B0300}" type="datetimeFigureOut">
              <a:rPr lang="en-US" smtClean="0"/>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9A7997-975D-433C-BD31-886FB7698137}" type="slidenum">
              <a:rPr lang="en-US" smtClean="0"/>
              <a:t>‹#›</a:t>
            </a:fld>
            <a:endParaRPr lang="en-US"/>
          </a:p>
        </p:txBody>
      </p:sp>
    </p:spTree>
    <p:extLst>
      <p:ext uri="{BB962C8B-B14F-4D97-AF65-F5344CB8AC3E}">
        <p14:creationId xmlns:p14="http://schemas.microsoft.com/office/powerpoint/2010/main" val="2286348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A3FBB5-E4CF-4E30-B910-171F0A3B0300}" type="datetimeFigureOut">
              <a:rPr lang="en-US" smtClean="0"/>
              <a:t>6/14/2025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9A7997-975D-433C-BD31-886FB7698137}" type="slidenum">
              <a:rPr lang="en-US" smtClean="0"/>
              <a:t>‹#›</a:t>
            </a:fld>
            <a:endParaRPr lang="en-US"/>
          </a:p>
        </p:txBody>
      </p:sp>
    </p:spTree>
    <p:extLst>
      <p:ext uri="{BB962C8B-B14F-4D97-AF65-F5344CB8AC3E}">
        <p14:creationId xmlns:p14="http://schemas.microsoft.com/office/powerpoint/2010/main" val="2737606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3A3FBB5-E4CF-4E30-B910-171F0A3B0300}" type="datetimeFigureOut">
              <a:rPr lang="en-US" smtClean="0"/>
              <a:t>6/14/2025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C9A7997-975D-433C-BD31-886FB7698137}" type="slidenum">
              <a:rPr lang="en-US" smtClean="0"/>
              <a:t>‹#›</a:t>
            </a:fld>
            <a:endParaRPr lang="en-US"/>
          </a:p>
        </p:txBody>
      </p:sp>
    </p:spTree>
    <p:extLst>
      <p:ext uri="{BB962C8B-B14F-4D97-AF65-F5344CB8AC3E}">
        <p14:creationId xmlns:p14="http://schemas.microsoft.com/office/powerpoint/2010/main" val="34233184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3A3FBB5-E4CF-4E30-B910-171F0A3B0300}" type="datetimeFigureOut">
              <a:rPr lang="en-US" smtClean="0"/>
              <a:t>6/14/2025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C9A7997-975D-433C-BD31-886FB7698137}" type="slidenum">
              <a:rPr lang="en-US" smtClean="0"/>
              <a:t>‹#›</a:t>
            </a:fld>
            <a:endParaRPr lang="en-US"/>
          </a:p>
        </p:txBody>
      </p:sp>
    </p:spTree>
    <p:extLst>
      <p:ext uri="{BB962C8B-B14F-4D97-AF65-F5344CB8AC3E}">
        <p14:creationId xmlns:p14="http://schemas.microsoft.com/office/powerpoint/2010/main" val="617572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A3FBB5-E4CF-4E30-B910-171F0A3B0300}" type="datetimeFigureOut">
              <a:rPr lang="en-US" smtClean="0"/>
              <a:t>6/14/2025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C9A7997-975D-433C-BD31-886FB7698137}" type="slidenum">
              <a:rPr lang="en-US" smtClean="0"/>
              <a:t>‹#›</a:t>
            </a:fld>
            <a:endParaRPr lang="en-US"/>
          </a:p>
        </p:txBody>
      </p:sp>
    </p:spTree>
    <p:extLst>
      <p:ext uri="{BB962C8B-B14F-4D97-AF65-F5344CB8AC3E}">
        <p14:creationId xmlns:p14="http://schemas.microsoft.com/office/powerpoint/2010/main" val="3522370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A3FBB5-E4CF-4E30-B910-171F0A3B0300}" type="datetimeFigureOut">
              <a:rPr lang="en-US" smtClean="0"/>
              <a:t>6/14/2025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9A7997-975D-433C-BD31-886FB7698137}" type="slidenum">
              <a:rPr lang="en-US" smtClean="0"/>
              <a:t>‹#›</a:t>
            </a:fld>
            <a:endParaRPr lang="en-US"/>
          </a:p>
        </p:txBody>
      </p:sp>
    </p:spTree>
    <p:extLst>
      <p:ext uri="{BB962C8B-B14F-4D97-AF65-F5344CB8AC3E}">
        <p14:creationId xmlns:p14="http://schemas.microsoft.com/office/powerpoint/2010/main" val="17680649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A3FBB5-E4CF-4E30-B910-171F0A3B0300}" type="datetimeFigureOut">
              <a:rPr lang="en-US" smtClean="0"/>
              <a:t>6/14/2025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9A7997-975D-433C-BD31-886FB7698137}" type="slidenum">
              <a:rPr lang="en-US" smtClean="0"/>
              <a:t>‹#›</a:t>
            </a:fld>
            <a:endParaRPr lang="en-US"/>
          </a:p>
        </p:txBody>
      </p:sp>
    </p:spTree>
    <p:extLst>
      <p:ext uri="{BB962C8B-B14F-4D97-AF65-F5344CB8AC3E}">
        <p14:creationId xmlns:p14="http://schemas.microsoft.com/office/powerpoint/2010/main" val="11545113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A3FBB5-E4CF-4E30-B910-171F0A3B0300}" type="datetimeFigureOut">
              <a:rPr lang="en-US" smtClean="0"/>
              <a:t>6/14/2025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9A7997-975D-433C-BD31-886FB7698137}" type="slidenum">
              <a:rPr lang="en-US" smtClean="0"/>
              <a:t>‹#›</a:t>
            </a:fld>
            <a:endParaRPr lang="en-US"/>
          </a:p>
        </p:txBody>
      </p:sp>
    </p:spTree>
    <p:extLst>
      <p:ext uri="{BB962C8B-B14F-4D97-AF65-F5344CB8AC3E}">
        <p14:creationId xmlns:p14="http://schemas.microsoft.com/office/powerpoint/2010/main" val="439765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A3FBB5-E4CF-4E30-B910-171F0A3B0300}" type="datetimeFigureOut">
              <a:rPr lang="en-US" smtClean="0"/>
              <a:t>6/14/2025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9A7997-975D-433C-BD31-886FB7698137}" type="slidenum">
              <a:rPr lang="en-US" smtClean="0"/>
              <a:t>‹#›</a:t>
            </a:fld>
            <a:endParaRPr lang="en-US"/>
          </a:p>
        </p:txBody>
      </p:sp>
    </p:spTree>
    <p:extLst>
      <p:ext uri="{BB962C8B-B14F-4D97-AF65-F5344CB8AC3E}">
        <p14:creationId xmlns:p14="http://schemas.microsoft.com/office/powerpoint/2010/main" val="15091775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A3FBB5-E4CF-4E30-B910-171F0A3B0300}" type="datetimeFigureOut">
              <a:rPr lang="en-US" smtClean="0"/>
              <a:t>6/14/2025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9A7997-975D-433C-BD31-886FB7698137}"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3697590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A3FBB5-E4CF-4E30-B910-171F0A3B0300}" type="datetimeFigureOut">
              <a:rPr lang="en-US" smtClean="0"/>
              <a:t>6/14/2025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9A7997-975D-433C-BD31-886FB7698137}" type="slidenum">
              <a:rPr lang="en-US" smtClean="0"/>
              <a:t>‹#›</a:t>
            </a:fld>
            <a:endParaRPr lang="en-US"/>
          </a:p>
        </p:txBody>
      </p:sp>
    </p:spTree>
    <p:extLst>
      <p:ext uri="{BB962C8B-B14F-4D97-AF65-F5344CB8AC3E}">
        <p14:creationId xmlns:p14="http://schemas.microsoft.com/office/powerpoint/2010/main" val="9094588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3A3FBB5-E4CF-4E30-B910-171F0A3B0300}" type="datetimeFigureOut">
              <a:rPr lang="en-US" smtClean="0"/>
              <a:t>6/14/2025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C9A7997-975D-433C-BD31-886FB7698137}" type="slidenum">
              <a:rPr lang="en-US" smtClean="0"/>
              <a:t>‹#›</a:t>
            </a:fld>
            <a:endParaRPr lang="en-US"/>
          </a:p>
        </p:txBody>
      </p:sp>
    </p:spTree>
    <p:extLst>
      <p:ext uri="{BB962C8B-B14F-4D97-AF65-F5344CB8AC3E}">
        <p14:creationId xmlns:p14="http://schemas.microsoft.com/office/powerpoint/2010/main" val="454281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3A3FBB5-E4CF-4E30-B910-171F0A3B0300}" type="datetimeFigureOut">
              <a:rPr lang="en-US" smtClean="0"/>
              <a:t>6/14/2025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C9A7997-975D-433C-BD31-886FB7698137}" type="slidenum">
              <a:rPr lang="en-US" smtClean="0"/>
              <a:t>‹#›</a:t>
            </a:fld>
            <a:endParaRPr lang="en-US"/>
          </a:p>
        </p:txBody>
      </p:sp>
    </p:spTree>
    <p:extLst>
      <p:ext uri="{BB962C8B-B14F-4D97-AF65-F5344CB8AC3E}">
        <p14:creationId xmlns:p14="http://schemas.microsoft.com/office/powerpoint/2010/main" val="23314806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A3FBB5-E4CF-4E30-B910-171F0A3B0300}" type="datetimeFigureOut">
              <a:rPr lang="en-US" smtClean="0"/>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9A7997-975D-433C-BD31-886FB7698137}" type="slidenum">
              <a:rPr lang="en-US" smtClean="0"/>
              <a:t>‹#›</a:t>
            </a:fld>
            <a:endParaRPr lang="en-US"/>
          </a:p>
        </p:txBody>
      </p:sp>
    </p:spTree>
    <p:extLst>
      <p:ext uri="{BB962C8B-B14F-4D97-AF65-F5344CB8AC3E}">
        <p14:creationId xmlns:p14="http://schemas.microsoft.com/office/powerpoint/2010/main" val="6902672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A3FBB5-E4CF-4E30-B910-171F0A3B0300}" type="datetimeFigureOut">
              <a:rPr lang="en-US" smtClean="0"/>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9A7997-975D-433C-BD31-886FB7698137}" type="slidenum">
              <a:rPr lang="en-US" smtClean="0"/>
              <a:t>‹#›</a:t>
            </a:fld>
            <a:endParaRPr lang="en-US"/>
          </a:p>
        </p:txBody>
      </p:sp>
    </p:spTree>
    <p:extLst>
      <p:ext uri="{BB962C8B-B14F-4D97-AF65-F5344CB8AC3E}">
        <p14:creationId xmlns:p14="http://schemas.microsoft.com/office/powerpoint/2010/main" val="4033830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3A3FBB5-E4CF-4E30-B910-171F0A3B0300}" type="datetimeFigureOut">
              <a:rPr lang="en-US" smtClean="0"/>
              <a:t>6/14/2025</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C9A7997-975D-433C-BD31-886FB7698137}" type="slidenum">
              <a:rPr lang="en-US" smtClean="0"/>
              <a:t>‹#›</a:t>
            </a:fld>
            <a:endParaRPr lang="en-US"/>
          </a:p>
        </p:txBody>
      </p:sp>
    </p:spTree>
    <p:extLst>
      <p:ext uri="{BB962C8B-B14F-4D97-AF65-F5344CB8AC3E}">
        <p14:creationId xmlns:p14="http://schemas.microsoft.com/office/powerpoint/2010/main" val="1630034431"/>
      </p:ext>
    </p:extLst>
  </p:cSld>
  <p:clrMap bg1="dk1" tx1="lt1" bg2="dk2" tx2="lt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 id="2147483822" r:id="rId12"/>
    <p:sldLayoutId id="2147483823" r:id="rId13"/>
    <p:sldLayoutId id="2147483824" r:id="rId14"/>
    <p:sldLayoutId id="2147483825" r:id="rId15"/>
    <p:sldLayoutId id="2147483826" r:id="rId16"/>
    <p:sldLayoutId id="214748382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D462D-90BD-5A62-A269-9E1B1420AE01}"/>
              </a:ext>
            </a:extLst>
          </p:cNvPr>
          <p:cNvSpPr>
            <a:spLocks noGrp="1"/>
          </p:cNvSpPr>
          <p:nvPr>
            <p:ph type="ctrTitle"/>
          </p:nvPr>
        </p:nvSpPr>
        <p:spPr/>
        <p:txBody>
          <a:bodyPr/>
          <a:lstStyle/>
          <a:p>
            <a:r>
              <a:rPr lang="en-US" dirty="0">
                <a:effectLst>
                  <a:outerShdw blurRad="38100" dist="38100" dir="2700000" algn="tl">
                    <a:srgbClr val="000000">
                      <a:alpha val="43137"/>
                    </a:srgbClr>
                  </a:outerShdw>
                </a:effectLst>
              </a:rPr>
              <a:t>Linear Regression</a:t>
            </a:r>
          </a:p>
        </p:txBody>
      </p:sp>
      <p:sp>
        <p:nvSpPr>
          <p:cNvPr id="5" name="Subtitle 4">
            <a:extLst>
              <a:ext uri="{FF2B5EF4-FFF2-40B4-BE49-F238E27FC236}">
                <a16:creationId xmlns:a16="http://schemas.microsoft.com/office/drawing/2014/main" id="{A84CA61C-07C6-4E8A-A117-E75CB731A94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754742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41696-35FE-370E-E796-A9559914AE02}"/>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rPr>
              <a:t>What Is Regression?</a:t>
            </a:r>
          </a:p>
        </p:txBody>
      </p:sp>
      <p:sp>
        <p:nvSpPr>
          <p:cNvPr id="3" name="Content Placeholder 2">
            <a:extLst>
              <a:ext uri="{FF2B5EF4-FFF2-40B4-BE49-F238E27FC236}">
                <a16:creationId xmlns:a16="http://schemas.microsoft.com/office/drawing/2014/main" id="{09ABA347-6CC0-3817-9F1E-CACBF74A6EEF}"/>
              </a:ext>
            </a:extLst>
          </p:cNvPr>
          <p:cNvSpPr>
            <a:spLocks noGrp="1"/>
          </p:cNvSpPr>
          <p:nvPr>
            <p:ph idx="1"/>
          </p:nvPr>
        </p:nvSpPr>
        <p:spPr>
          <a:xfrm>
            <a:off x="1141412" y="2249487"/>
            <a:ext cx="9905999" cy="4357790"/>
          </a:xfrm>
        </p:spPr>
        <p:txBody>
          <a:bodyPr>
            <a:normAutofit/>
          </a:bodyPr>
          <a:lstStyle/>
          <a:p>
            <a:pPr algn="just"/>
            <a:r>
              <a:rPr lang="en-US" dirty="0"/>
              <a:t>Regression searches for relationships among variables. </a:t>
            </a:r>
          </a:p>
          <a:p>
            <a:pPr lvl="1" algn="just"/>
            <a:r>
              <a:rPr lang="en-US" dirty="0"/>
              <a:t>For example, you can observe several employees of some company and try to understand how their salaries depend on their features, such as </a:t>
            </a:r>
          </a:p>
          <a:p>
            <a:pPr lvl="2" algn="just"/>
            <a:r>
              <a:rPr lang="en-US" dirty="0"/>
              <a:t>experience, education level, role, city of employment, and so on.</a:t>
            </a:r>
          </a:p>
          <a:p>
            <a:pPr lvl="1" algn="just"/>
            <a:r>
              <a:rPr lang="en-US" dirty="0"/>
              <a:t>This is a regression problem: </a:t>
            </a:r>
          </a:p>
          <a:p>
            <a:pPr lvl="2" algn="just"/>
            <a:r>
              <a:rPr lang="en-US" dirty="0"/>
              <a:t>where data related to each employee represents one observation. The presumption is that the experience, education, role, and city are the independent features, while the salary depends on them.</a:t>
            </a:r>
          </a:p>
          <a:p>
            <a:pPr lvl="1" algn="just"/>
            <a:r>
              <a:rPr lang="en-US" dirty="0"/>
              <a:t>Similarly, you can try to establish the mathematical dependence of housing prices on area, number of bedrooms, distance to the city center, and so on.</a:t>
            </a:r>
          </a:p>
        </p:txBody>
      </p:sp>
    </p:spTree>
    <p:extLst>
      <p:ext uri="{BB962C8B-B14F-4D97-AF65-F5344CB8AC3E}">
        <p14:creationId xmlns:p14="http://schemas.microsoft.com/office/powerpoint/2010/main" val="8992404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41696-35FE-370E-E796-A9559914AE02}"/>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rPr>
              <a:t>What Is Regression?</a:t>
            </a:r>
          </a:p>
        </p:txBody>
      </p:sp>
      <p:sp>
        <p:nvSpPr>
          <p:cNvPr id="3" name="Content Placeholder 2">
            <a:extLst>
              <a:ext uri="{FF2B5EF4-FFF2-40B4-BE49-F238E27FC236}">
                <a16:creationId xmlns:a16="http://schemas.microsoft.com/office/drawing/2014/main" id="{09ABA347-6CC0-3817-9F1E-CACBF74A6EEF}"/>
              </a:ext>
            </a:extLst>
          </p:cNvPr>
          <p:cNvSpPr>
            <a:spLocks noGrp="1"/>
          </p:cNvSpPr>
          <p:nvPr>
            <p:ph idx="1"/>
          </p:nvPr>
        </p:nvSpPr>
        <p:spPr/>
        <p:txBody>
          <a:bodyPr>
            <a:normAutofit/>
          </a:bodyPr>
          <a:lstStyle/>
          <a:p>
            <a:pPr algn="just"/>
            <a:r>
              <a:rPr lang="en-US" dirty="0"/>
              <a:t>Generally, in regression analysis, you consider some phenomenon of interest and have a number of observations. </a:t>
            </a:r>
          </a:p>
          <a:p>
            <a:pPr algn="just"/>
            <a:r>
              <a:rPr lang="en-US" dirty="0"/>
              <a:t>Each observation has two or more features. Following the assumption that at least one of the features depends on the others, you try to establish a relation among them.</a:t>
            </a:r>
          </a:p>
          <a:p>
            <a:pPr algn="just"/>
            <a:r>
              <a:rPr lang="en-US" dirty="0"/>
              <a:t>In other words, you need to find a function that maps some features or variables to others sufficiently well.</a:t>
            </a:r>
          </a:p>
        </p:txBody>
      </p:sp>
    </p:spTree>
    <p:extLst>
      <p:ext uri="{BB962C8B-B14F-4D97-AF65-F5344CB8AC3E}">
        <p14:creationId xmlns:p14="http://schemas.microsoft.com/office/powerpoint/2010/main" val="2712209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41696-35FE-370E-E796-A9559914AE02}"/>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rPr>
              <a:t>What Is Regression?</a:t>
            </a:r>
          </a:p>
        </p:txBody>
      </p:sp>
      <p:sp>
        <p:nvSpPr>
          <p:cNvPr id="3" name="Content Placeholder 2">
            <a:extLst>
              <a:ext uri="{FF2B5EF4-FFF2-40B4-BE49-F238E27FC236}">
                <a16:creationId xmlns:a16="http://schemas.microsoft.com/office/drawing/2014/main" id="{09ABA347-6CC0-3817-9F1E-CACBF74A6EEF}"/>
              </a:ext>
            </a:extLst>
          </p:cNvPr>
          <p:cNvSpPr>
            <a:spLocks noGrp="1"/>
          </p:cNvSpPr>
          <p:nvPr>
            <p:ph idx="1"/>
          </p:nvPr>
        </p:nvSpPr>
        <p:spPr/>
        <p:txBody>
          <a:bodyPr>
            <a:normAutofit/>
          </a:bodyPr>
          <a:lstStyle/>
          <a:p>
            <a:pPr algn="just"/>
            <a:r>
              <a:rPr lang="en-US" dirty="0"/>
              <a:t>The dependent features are called the </a:t>
            </a:r>
            <a:r>
              <a:rPr lang="en-US" b="1" dirty="0"/>
              <a:t>dependent variables</a:t>
            </a:r>
            <a:r>
              <a:rPr lang="en-US" dirty="0"/>
              <a:t>, </a:t>
            </a:r>
            <a:r>
              <a:rPr lang="en-US" b="1" dirty="0"/>
              <a:t>outputs</a:t>
            </a:r>
            <a:r>
              <a:rPr lang="en-US" dirty="0"/>
              <a:t>, or </a:t>
            </a:r>
            <a:r>
              <a:rPr lang="en-US" b="1" dirty="0"/>
              <a:t>responses</a:t>
            </a:r>
            <a:r>
              <a:rPr lang="en-US" dirty="0"/>
              <a:t>. The independent features are called the </a:t>
            </a:r>
            <a:r>
              <a:rPr lang="en-US" b="1" dirty="0"/>
              <a:t>independent variables</a:t>
            </a:r>
            <a:r>
              <a:rPr lang="en-US" dirty="0"/>
              <a:t>, </a:t>
            </a:r>
            <a:r>
              <a:rPr lang="en-US" b="1" dirty="0"/>
              <a:t>inputs</a:t>
            </a:r>
            <a:r>
              <a:rPr lang="en-US" dirty="0"/>
              <a:t>, </a:t>
            </a:r>
            <a:r>
              <a:rPr lang="en-US" b="1" dirty="0"/>
              <a:t>regressors</a:t>
            </a:r>
            <a:r>
              <a:rPr lang="en-US" dirty="0"/>
              <a:t>, or </a:t>
            </a:r>
            <a:r>
              <a:rPr lang="en-US" b="1" dirty="0"/>
              <a:t>predictors</a:t>
            </a:r>
            <a:r>
              <a:rPr lang="en-US" dirty="0"/>
              <a:t>.</a:t>
            </a:r>
          </a:p>
          <a:p>
            <a:pPr algn="just"/>
            <a:r>
              <a:rPr lang="en-US" dirty="0"/>
              <a:t>It’s a common practice to denote the outputs with 𝑦 and the inputs with 𝑥. If there are two or more independent variables, then they can be represented as the vector 𝐱 = (𝑥₁, …, 𝑥ᵣ), where 𝑟 is the number of inputs.</a:t>
            </a:r>
          </a:p>
        </p:txBody>
      </p:sp>
    </p:spTree>
    <p:extLst>
      <p:ext uri="{BB962C8B-B14F-4D97-AF65-F5344CB8AC3E}">
        <p14:creationId xmlns:p14="http://schemas.microsoft.com/office/powerpoint/2010/main" val="227255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41696-35FE-370E-E796-A9559914AE02}"/>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rPr>
              <a:t>When Do You Need Regression?</a:t>
            </a:r>
          </a:p>
        </p:txBody>
      </p:sp>
      <p:sp>
        <p:nvSpPr>
          <p:cNvPr id="3" name="Content Placeholder 2">
            <a:extLst>
              <a:ext uri="{FF2B5EF4-FFF2-40B4-BE49-F238E27FC236}">
                <a16:creationId xmlns:a16="http://schemas.microsoft.com/office/drawing/2014/main" id="{09ABA347-6CC0-3817-9F1E-CACBF74A6EEF}"/>
              </a:ext>
            </a:extLst>
          </p:cNvPr>
          <p:cNvSpPr>
            <a:spLocks noGrp="1"/>
          </p:cNvSpPr>
          <p:nvPr>
            <p:ph idx="1"/>
          </p:nvPr>
        </p:nvSpPr>
        <p:spPr>
          <a:xfrm>
            <a:off x="1141412" y="2249486"/>
            <a:ext cx="9905999" cy="4367623"/>
          </a:xfrm>
        </p:spPr>
        <p:txBody>
          <a:bodyPr>
            <a:normAutofit fontScale="92500" lnSpcReduction="10000"/>
          </a:bodyPr>
          <a:lstStyle/>
          <a:p>
            <a:pPr algn="just"/>
            <a:r>
              <a:rPr lang="en-US" dirty="0"/>
              <a:t>Typically, you need regression to answer whether and how some phenomenon influences the other or how several variables are related. </a:t>
            </a:r>
          </a:p>
          <a:p>
            <a:pPr lvl="1" algn="just"/>
            <a:r>
              <a:rPr lang="en-US" dirty="0"/>
              <a:t>For example, you can use it to determine if and to what extent experience or gender impacts salaries.</a:t>
            </a:r>
          </a:p>
          <a:p>
            <a:pPr algn="just"/>
            <a:r>
              <a:rPr lang="en-US" dirty="0"/>
              <a:t>Regression is also useful when you want to forecast a response using a new set of predictors. </a:t>
            </a:r>
          </a:p>
          <a:p>
            <a:pPr lvl="1" algn="just"/>
            <a:r>
              <a:rPr lang="en-US" dirty="0"/>
              <a:t>For example, you could try to predict electricity consumption of a household for the next hour given the outdoor temperature, time of day, and number of residents in that household.</a:t>
            </a:r>
          </a:p>
          <a:p>
            <a:pPr algn="just"/>
            <a:r>
              <a:rPr lang="en-US" dirty="0"/>
              <a:t>Regression is used in many different fields, including economics, computer science, and the social sciences. Its importance rises every day with the availability of large amounts of data and increased awareness of the practical value of data.</a:t>
            </a:r>
          </a:p>
        </p:txBody>
      </p:sp>
    </p:spTree>
    <p:extLst>
      <p:ext uri="{BB962C8B-B14F-4D97-AF65-F5344CB8AC3E}">
        <p14:creationId xmlns:p14="http://schemas.microsoft.com/office/powerpoint/2010/main" val="38765831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41696-35FE-370E-E796-A9559914AE02}"/>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rPr>
              <a:t>Linear Regression </a:t>
            </a:r>
          </a:p>
        </p:txBody>
      </p:sp>
      <p:pic>
        <p:nvPicPr>
          <p:cNvPr id="5" name="Content Placeholder 4">
            <a:extLst>
              <a:ext uri="{FF2B5EF4-FFF2-40B4-BE49-F238E27FC236}">
                <a16:creationId xmlns:a16="http://schemas.microsoft.com/office/drawing/2014/main" id="{B2C1D343-EC3E-D4E3-3732-99896CBEE38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37843" y="1831040"/>
            <a:ext cx="8716313" cy="4469536"/>
          </a:xfrm>
        </p:spPr>
      </p:pic>
    </p:spTree>
    <p:extLst>
      <p:ext uri="{BB962C8B-B14F-4D97-AF65-F5344CB8AC3E}">
        <p14:creationId xmlns:p14="http://schemas.microsoft.com/office/powerpoint/2010/main" val="3978210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41696-35FE-370E-E796-A9559914AE02}"/>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rPr>
              <a:t>Linear Regression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ABA347-6CC0-3817-9F1E-CACBF74A6EEF}"/>
                  </a:ext>
                </a:extLst>
              </p:cNvPr>
              <p:cNvSpPr>
                <a:spLocks noGrp="1"/>
              </p:cNvSpPr>
              <p:nvPr>
                <p:ph idx="1"/>
              </p:nvPr>
            </p:nvSpPr>
            <p:spPr>
              <a:xfrm>
                <a:off x="1141412" y="2249486"/>
                <a:ext cx="9905999" cy="4367623"/>
              </a:xfrm>
            </p:spPr>
            <p:txBody>
              <a:bodyPr>
                <a:normAutofit fontScale="92500" lnSpcReduction="20000"/>
              </a:bodyPr>
              <a:lstStyle/>
              <a:p>
                <a:pPr algn="just"/>
                <a:r>
                  <a:rPr lang="en-US" dirty="0"/>
                  <a:t>When implementing simple linear regression, you typically start with a given set of input-output (𝑥-𝑦) pairs. </a:t>
                </a:r>
              </a:p>
              <a:p>
                <a:pPr lvl="1" algn="just"/>
                <a:r>
                  <a:rPr lang="en-US" dirty="0"/>
                  <a:t>These pairs are your observations, shown as green circles in the figure. For example, the leftmost observation has the input 𝑥 = 5 and the actual output, or response, 𝑦 = 5. The next one has 𝑥 = 15 and 𝑦 = 20, and so on.</a:t>
                </a:r>
              </a:p>
              <a:p>
                <a:pPr algn="just"/>
                <a:r>
                  <a:rPr lang="en-US" dirty="0"/>
                  <a:t>The estimated regression function, represented by the black line, has the equation 𝑓(𝑥) = 𝑏₀ + 𝑏₁𝑥. </a:t>
                </a:r>
              </a:p>
              <a:p>
                <a:pPr lvl="1" algn="just"/>
                <a:r>
                  <a:rPr lang="en-US" dirty="0"/>
                  <a:t>Your goal is to calculate the optimal values of the predicted weights 𝑏₀ and 𝑏₁ that minimize Standard Estimation Error. Formula of SER </a:t>
                </a:r>
              </a:p>
              <a:p>
                <a:pPr marL="457200" lvl="1" indent="0" algn="just">
                  <a:buNone/>
                </a:pPr>
                <a14:m>
                  <m:oMathPara xmlns:m="http://schemas.openxmlformats.org/officeDocument/2006/math">
                    <m:oMathParaPr>
                      <m:jc m:val="centerGroup"/>
                    </m:oMathParaPr>
                    <m:oMath xmlns:m="http://schemas.openxmlformats.org/officeDocument/2006/math">
                      <m:rad>
                        <m:radPr>
                          <m:degHide m:val="on"/>
                          <m:ctrlPr>
                            <a:rPr lang="en-US" i="1" smtClean="0">
                              <a:latin typeface="Cambria Math" panose="02040503050406030204" pitchFamily="18" charset="0"/>
                            </a:rPr>
                          </m:ctrlPr>
                        </m:radPr>
                        <m:deg/>
                        <m:e>
                          <m:f>
                            <m:fPr>
                              <m:ctrlPr>
                                <a:rPr lang="en-US" i="1" smtClean="0">
                                  <a:latin typeface="Cambria Math" panose="02040503050406030204" pitchFamily="18" charset="0"/>
                                </a:rPr>
                              </m:ctrlPr>
                            </m:fPr>
                            <m:num>
                              <m:nary>
                                <m:naryPr>
                                  <m:chr m:val="∑"/>
                                  <m:subHide m:val="on"/>
                                  <m:supHide m:val="on"/>
                                  <m:ctrlPr>
                                    <a:rPr lang="en-US" i="1" smtClean="0">
                                      <a:latin typeface="Cambria Math" panose="02040503050406030204" pitchFamily="18" charset="0"/>
                                    </a:rPr>
                                  </m:ctrlPr>
                                </m:naryPr>
                                <m:sub/>
                                <m:sup/>
                                <m:e>
                                  <m:r>
                                    <a:rPr lang="en-US" i="1">
                                      <a:latin typeface="Cambria Math" panose="02040503050406030204" pitchFamily="18" charset="0"/>
                                    </a:rPr>
                                    <m:t>(</m:t>
                                  </m:r>
                                  <m:r>
                                    <a:rPr lang="en-US" b="0" i="1" smtClean="0">
                                      <a:latin typeface="Cambria Math" panose="02040503050406030204" pitchFamily="18" charset="0"/>
                                    </a:rPr>
                                    <m:t>𝑦</m:t>
                                  </m:r>
                                  <m:r>
                                    <a:rPr lang="en-US" i="1">
                                      <a:latin typeface="Cambria Math" panose="02040503050406030204" pitchFamily="18" charset="0"/>
                                    </a:rPr>
                                    <m:t>−</m:t>
                                  </m:r>
                                  <m:sPre>
                                    <m:sPrePr>
                                      <m:ctrlPr>
                                        <a:rPr lang="en-US" i="1">
                                          <a:latin typeface="Cambria Math" panose="02040503050406030204" pitchFamily="18" charset="0"/>
                                        </a:rPr>
                                      </m:ctrlPr>
                                    </m:sPrePr>
                                    <m:sub>
                                      <m:r>
                                        <a:rPr lang="en-US" b="0" i="1" smtClean="0">
                                          <a:latin typeface="Cambria Math" panose="02040503050406030204" pitchFamily="18" charset="0"/>
                                        </a:rPr>
                                        <m:t>𝑦</m:t>
                                      </m:r>
                                    </m:sub>
                                    <m:sup>
                                      <m:r>
                                        <a:rPr lang="en-US" i="1">
                                          <a:latin typeface="Cambria Math" panose="02040503050406030204" pitchFamily="18" charset="0"/>
                                        </a:rPr>
                                        <m:t>−</m:t>
                                      </m:r>
                                    </m:sup>
                                    <m:e>
                                      <m:r>
                                        <a:rPr lang="en-US" i="1">
                                          <a:latin typeface="Cambria Math" panose="02040503050406030204" pitchFamily="18" charset="0"/>
                                        </a:rPr>
                                        <m:t>)</m:t>
                                      </m:r>
                                    </m:e>
                                  </m:sPre>
                                  <m:r>
                                    <a:rPr lang="en-US" i="1" baseline="30000">
                                      <a:latin typeface="Cambria Math" panose="02040503050406030204" pitchFamily="18" charset="0"/>
                                    </a:rPr>
                                    <m:t>2</m:t>
                                  </m:r>
                                </m:e>
                              </m:nary>
                            </m:num>
                            <m:den>
                              <m:r>
                                <a:rPr lang="en-US" b="0" i="1" smtClean="0">
                                  <a:latin typeface="Cambria Math" panose="02040503050406030204" pitchFamily="18" charset="0"/>
                                </a:rPr>
                                <m:t>𝑛</m:t>
                              </m:r>
                              <m:r>
                                <a:rPr lang="en-US" b="0" i="1" smtClean="0">
                                  <a:latin typeface="Cambria Math" panose="02040503050406030204" pitchFamily="18" charset="0"/>
                                </a:rPr>
                                <m:t>−2</m:t>
                              </m:r>
                            </m:den>
                          </m:f>
                        </m:e>
                      </m:rad>
                    </m:oMath>
                  </m:oMathPara>
                </a14:m>
                <a:endParaRPr lang="en-US" dirty="0"/>
              </a:p>
            </p:txBody>
          </p:sp>
        </mc:Choice>
        <mc:Fallback xmlns="">
          <p:sp>
            <p:nvSpPr>
              <p:cNvPr id="3" name="Content Placeholder 2">
                <a:extLst>
                  <a:ext uri="{FF2B5EF4-FFF2-40B4-BE49-F238E27FC236}">
                    <a16:creationId xmlns:a16="http://schemas.microsoft.com/office/drawing/2014/main" id="{09ABA347-6CC0-3817-9F1E-CACBF74A6EEF}"/>
                  </a:ext>
                </a:extLst>
              </p:cNvPr>
              <p:cNvSpPr>
                <a:spLocks noGrp="1" noRot="1" noChangeAspect="1" noMove="1" noResize="1" noEditPoints="1" noAdjustHandles="1" noChangeArrowheads="1" noChangeShapeType="1" noTextEdit="1"/>
              </p:cNvSpPr>
              <p:nvPr>
                <p:ph idx="1"/>
              </p:nvPr>
            </p:nvSpPr>
            <p:spPr>
              <a:xfrm>
                <a:off x="1141412" y="2249486"/>
                <a:ext cx="9905999" cy="4367623"/>
              </a:xfrm>
              <a:blipFill>
                <a:blip r:embed="rId2"/>
                <a:stretch>
                  <a:fillRect l="-1046" t="-2514" r="-800"/>
                </a:stretch>
              </a:blipFill>
            </p:spPr>
            <p:txBody>
              <a:bodyPr/>
              <a:lstStyle/>
              <a:p>
                <a:r>
                  <a:rPr lang="en-US">
                    <a:noFill/>
                  </a:rPr>
                  <a:t> </a:t>
                </a:r>
              </a:p>
            </p:txBody>
          </p:sp>
        </mc:Fallback>
      </mc:AlternateContent>
    </p:spTree>
    <p:extLst>
      <p:ext uri="{BB962C8B-B14F-4D97-AF65-F5344CB8AC3E}">
        <p14:creationId xmlns:p14="http://schemas.microsoft.com/office/powerpoint/2010/main" val="2189755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41696-35FE-370E-E796-A9559914AE02}"/>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rPr>
              <a:t>Linear Regression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ABA347-6CC0-3817-9F1E-CACBF74A6EEF}"/>
                  </a:ext>
                </a:extLst>
              </p:cNvPr>
              <p:cNvSpPr>
                <a:spLocks noGrp="1"/>
              </p:cNvSpPr>
              <p:nvPr>
                <p:ph idx="1"/>
              </p:nvPr>
            </p:nvSpPr>
            <p:spPr>
              <a:xfrm>
                <a:off x="1141412" y="2249486"/>
                <a:ext cx="9905999" cy="4367623"/>
              </a:xfrm>
            </p:spPr>
            <p:txBody>
              <a:bodyPr>
                <a:normAutofit fontScale="85000" lnSpcReduction="10000"/>
              </a:bodyPr>
              <a:lstStyle/>
              <a:p>
                <a:pPr algn="just"/>
                <a:r>
                  <a:rPr lang="en-US" dirty="0"/>
                  <a:t>The value of 𝑏₀, also called the intercept, shows the point where the estimated regression line crosses the 𝑦 axis. It’s the value of the estimated response 𝑓(𝑥) for 𝑥 = 0. </a:t>
                </a:r>
              </a:p>
              <a:p>
                <a:pPr algn="just"/>
                <a:r>
                  <a:rPr lang="en-US" dirty="0"/>
                  <a:t>The value of 𝑏₁ determines the slope of the estimated regression line.</a:t>
                </a:r>
              </a:p>
              <a:p>
                <a:pPr marL="457200" lvl="1" indent="0" algn="just">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nary>
                            <m:naryPr>
                              <m:chr m:val="∑"/>
                              <m:subHide m:val="on"/>
                              <m:supHide m:val="on"/>
                              <m:ctrlPr>
                                <a:rPr lang="en-US" i="1" smtClean="0">
                                  <a:latin typeface="Cambria Math" panose="02040503050406030204" pitchFamily="18" charset="0"/>
                                </a:rPr>
                              </m:ctrlPr>
                            </m:naryPr>
                            <m:sub/>
                            <m:sup/>
                            <m:e>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sPre>
                                <m:sPrePr>
                                  <m:ctrlPr>
                                    <a:rPr lang="en-US" b="0" i="1" smtClean="0">
                                      <a:latin typeface="Cambria Math" panose="02040503050406030204" pitchFamily="18" charset="0"/>
                                    </a:rPr>
                                  </m:ctrlPr>
                                </m:sPrePr>
                                <m:sub>
                                  <m:r>
                                    <a:rPr lang="en-US" b="0" i="1" smtClean="0">
                                      <a:latin typeface="Cambria Math" panose="02040503050406030204" pitchFamily="18" charset="0"/>
                                    </a:rPr>
                                    <m:t>𝑥</m:t>
                                  </m:r>
                                </m:sub>
                                <m:sup>
                                  <m:r>
                                    <a:rPr lang="en-US" b="0" i="1" smtClean="0">
                                      <a:latin typeface="Cambria Math" panose="02040503050406030204" pitchFamily="18" charset="0"/>
                                    </a:rPr>
                                    <m:t>−</m:t>
                                  </m:r>
                                </m:sup>
                                <m:e>
                                  <m:r>
                                    <a:rPr lang="en-US" b="0" i="1" smtClean="0">
                                      <a:latin typeface="Cambria Math" panose="02040503050406030204" pitchFamily="18" charset="0"/>
                                    </a:rPr>
                                    <m:t>)</m:t>
                                  </m:r>
                                </m:e>
                              </m:sPre>
                              <m:r>
                                <a:rPr lang="en-US" i="1">
                                  <a:latin typeface="Cambria Math" panose="02040503050406030204" pitchFamily="18" charset="0"/>
                                </a:rPr>
                                <m:t>(</m:t>
                              </m:r>
                              <m:r>
                                <a:rPr lang="en-US" b="0" i="1" smtClean="0">
                                  <a:latin typeface="Cambria Math" panose="02040503050406030204" pitchFamily="18" charset="0"/>
                                </a:rPr>
                                <m:t>𝑦</m:t>
                              </m:r>
                              <m:r>
                                <a:rPr lang="en-US" i="1">
                                  <a:latin typeface="Cambria Math" panose="02040503050406030204" pitchFamily="18" charset="0"/>
                                </a:rPr>
                                <m:t>−</m:t>
                              </m:r>
                              <m:sPre>
                                <m:sPrePr>
                                  <m:ctrlPr>
                                    <a:rPr lang="en-US" i="1">
                                      <a:latin typeface="Cambria Math" panose="02040503050406030204" pitchFamily="18" charset="0"/>
                                    </a:rPr>
                                  </m:ctrlPr>
                                </m:sPrePr>
                                <m:sub>
                                  <m:r>
                                    <a:rPr lang="en-US" b="0" i="1" smtClean="0">
                                      <a:latin typeface="Cambria Math" panose="02040503050406030204" pitchFamily="18" charset="0"/>
                                    </a:rPr>
                                    <m:t>𝑦</m:t>
                                  </m:r>
                                </m:sub>
                                <m:sup>
                                  <m:r>
                                    <a:rPr lang="en-US" i="1">
                                      <a:latin typeface="Cambria Math" panose="02040503050406030204" pitchFamily="18" charset="0"/>
                                    </a:rPr>
                                    <m:t>−</m:t>
                                  </m:r>
                                </m:sup>
                                <m:e>
                                  <m:r>
                                    <a:rPr lang="en-US" i="1">
                                      <a:latin typeface="Cambria Math" panose="02040503050406030204" pitchFamily="18" charset="0"/>
                                    </a:rPr>
                                    <m:t>)</m:t>
                                  </m:r>
                                </m:e>
                              </m:sPre>
                            </m:e>
                          </m:nary>
                        </m:num>
                        <m:den>
                          <m:nary>
                            <m:naryPr>
                              <m:chr m:val="∑"/>
                              <m:subHide m:val="on"/>
                              <m:supHide m:val="on"/>
                              <m:ctrlPr>
                                <a:rPr lang="en-US" i="1" smtClean="0">
                                  <a:latin typeface="Cambria Math" panose="02040503050406030204" pitchFamily="18" charset="0"/>
                                </a:rPr>
                              </m:ctrlPr>
                            </m:naryPr>
                            <m:sub/>
                            <m:sup/>
                            <m:e>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sPre>
                                <m:sPrePr>
                                  <m:ctrlPr>
                                    <a:rPr lang="en-US" i="1">
                                      <a:latin typeface="Cambria Math" panose="02040503050406030204" pitchFamily="18" charset="0"/>
                                    </a:rPr>
                                  </m:ctrlPr>
                                </m:sPrePr>
                                <m:sub>
                                  <m:r>
                                    <a:rPr lang="en-US" i="1">
                                      <a:latin typeface="Cambria Math" panose="02040503050406030204" pitchFamily="18" charset="0"/>
                                    </a:rPr>
                                    <m:t>𝑥</m:t>
                                  </m:r>
                                </m:sub>
                                <m:sup>
                                  <m:r>
                                    <a:rPr lang="en-US" i="1">
                                      <a:latin typeface="Cambria Math" panose="02040503050406030204" pitchFamily="18" charset="0"/>
                                    </a:rPr>
                                    <m:t>−</m:t>
                                  </m:r>
                                </m:sup>
                                <m:e>
                                  <m:r>
                                    <a:rPr lang="en-US" i="1">
                                      <a:latin typeface="Cambria Math" panose="02040503050406030204" pitchFamily="18" charset="0"/>
                                    </a:rPr>
                                    <m:t>)</m:t>
                                  </m:r>
                                </m:e>
                              </m:sPre>
                              <m:r>
                                <a:rPr lang="en-US" b="0" i="1" baseline="30000" smtClean="0">
                                  <a:latin typeface="Cambria Math" panose="02040503050406030204" pitchFamily="18" charset="0"/>
                                </a:rPr>
                                <m:t>2</m:t>
                              </m:r>
                            </m:e>
                          </m:nary>
                        </m:den>
                      </m:f>
                    </m:oMath>
                  </m:oMathPara>
                </a14:m>
                <a:endParaRPr lang="en-US" dirty="0"/>
              </a:p>
              <a:p>
                <a:pPr algn="just"/>
                <a:r>
                  <a:rPr lang="en-US" dirty="0"/>
                  <a:t>The predicted responses, shown as red squares, are the points on the regression line that correspond to the input values. For example, for the input 𝑥 = 5, the predicted response is 𝑓(5) = 8.33, which the leftmost red square represents.</a:t>
                </a:r>
              </a:p>
              <a:p>
                <a:pPr algn="just"/>
                <a:r>
                  <a:rPr lang="en-US" dirty="0"/>
                  <a:t>The vertical dashed grey lines represent the residuals (error), which can be calculated as 𝑦ᵢ - 𝑓(𝐱ᵢ) = 𝑦ᵢ - 𝑏₀ - 𝑏₁𝑥ᵢ for 𝑖 = 1, …, 𝑛. They’re the distances between the green circles and red squares. </a:t>
                </a:r>
              </a:p>
            </p:txBody>
          </p:sp>
        </mc:Choice>
        <mc:Fallback xmlns="">
          <p:sp>
            <p:nvSpPr>
              <p:cNvPr id="3" name="Content Placeholder 2">
                <a:extLst>
                  <a:ext uri="{FF2B5EF4-FFF2-40B4-BE49-F238E27FC236}">
                    <a16:creationId xmlns:a16="http://schemas.microsoft.com/office/drawing/2014/main" id="{09ABA347-6CC0-3817-9F1E-CACBF74A6EEF}"/>
                  </a:ext>
                </a:extLst>
              </p:cNvPr>
              <p:cNvSpPr>
                <a:spLocks noGrp="1" noRot="1" noChangeAspect="1" noMove="1" noResize="1" noEditPoints="1" noAdjustHandles="1" noChangeArrowheads="1" noChangeShapeType="1" noTextEdit="1"/>
              </p:cNvSpPr>
              <p:nvPr>
                <p:ph idx="1"/>
              </p:nvPr>
            </p:nvSpPr>
            <p:spPr>
              <a:xfrm>
                <a:off x="1141412" y="2249486"/>
                <a:ext cx="9905999" cy="4367623"/>
              </a:xfrm>
              <a:blipFill>
                <a:blip r:embed="rId2"/>
                <a:stretch>
                  <a:fillRect l="-862" t="-1816" r="-677"/>
                </a:stretch>
              </a:blipFill>
            </p:spPr>
            <p:txBody>
              <a:bodyPr/>
              <a:lstStyle/>
              <a:p>
                <a:r>
                  <a:rPr lang="en-US">
                    <a:noFill/>
                  </a:rPr>
                  <a:t> </a:t>
                </a:r>
              </a:p>
            </p:txBody>
          </p:sp>
        </mc:Fallback>
      </mc:AlternateContent>
    </p:spTree>
    <p:extLst>
      <p:ext uri="{BB962C8B-B14F-4D97-AF65-F5344CB8AC3E}">
        <p14:creationId xmlns:p14="http://schemas.microsoft.com/office/powerpoint/2010/main" val="66808615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Circuit</Template>
  <TotalTime>310</TotalTime>
  <Words>722</Words>
  <Application>Microsoft Office PowerPoint</Application>
  <PresentationFormat>Widescreen</PresentationFormat>
  <Paragraphs>34</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Cambria Math</vt:lpstr>
      <vt:lpstr>Tw Cen MT</vt:lpstr>
      <vt:lpstr>Circuit</vt:lpstr>
      <vt:lpstr>Linear Regression</vt:lpstr>
      <vt:lpstr>What Is Regression?</vt:lpstr>
      <vt:lpstr>What Is Regression?</vt:lpstr>
      <vt:lpstr>What Is Regression?</vt:lpstr>
      <vt:lpstr>When Do You Need Regression?</vt:lpstr>
      <vt:lpstr>Linear Regression </vt:lpstr>
      <vt:lpstr>Linear Regression </vt:lpstr>
      <vt:lpstr>Linear Regression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cleaning </dc:title>
  <dc:creator>Ahsan Arshad</dc:creator>
  <cp:lastModifiedBy>Abdul Jamil</cp:lastModifiedBy>
  <cp:revision>27</cp:revision>
  <dcterms:created xsi:type="dcterms:W3CDTF">2024-04-16T15:55:00Z</dcterms:created>
  <dcterms:modified xsi:type="dcterms:W3CDTF">2025-06-14T04:17:08Z</dcterms:modified>
</cp:coreProperties>
</file>